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2"/>
    </p:embeddedFont>
    <p:embeddedFont>
      <p:font typeface="Consolas Bold" charset="1" panose="020B0709020204030204"/>
      <p:regular r:id="rId24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637968" cy="244859"/>
            <a:chOff x="0" y="0"/>
            <a:chExt cx="3517290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599868" y="-12697"/>
            <a:ext cx="2637968" cy="244859"/>
            <a:chOff x="0" y="0"/>
            <a:chExt cx="3517290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212442" y="-12697"/>
            <a:ext cx="2637968" cy="244859"/>
            <a:chOff x="0" y="0"/>
            <a:chExt cx="3517290" cy="32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825016" y="-12697"/>
            <a:ext cx="2637968" cy="244859"/>
            <a:chOff x="0" y="0"/>
            <a:chExt cx="3517290" cy="32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437590" y="-12697"/>
            <a:ext cx="2637968" cy="244859"/>
            <a:chOff x="0" y="0"/>
            <a:chExt cx="3517290" cy="326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50155" y="-12697"/>
            <a:ext cx="2637968" cy="244859"/>
            <a:chOff x="0" y="0"/>
            <a:chExt cx="3517290" cy="3264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662729" y="-12697"/>
            <a:ext cx="2637968" cy="244859"/>
            <a:chOff x="0" y="0"/>
            <a:chExt cx="3517290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914400"/>
            <a:ext cx="16459200" cy="3840480"/>
            <a:chOff x="0" y="0"/>
            <a:chExt cx="21945600" cy="5120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80975"/>
              <a:ext cx="21945600" cy="530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040"/>
                </a:lnSpc>
              </a:pPr>
              <a:r>
                <a:rPr lang="en-US" sz="9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Gerenciar o Fluxo</a:t>
              </a:r>
            </a:p>
            <a:p>
              <a:pPr algn="l">
                <a:lnSpc>
                  <a:spcPts val="11040"/>
                </a:lnSpc>
              </a:pPr>
              <a:r>
                <a:rPr lang="en-US" sz="9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Atendimento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3143" y="4650743"/>
            <a:ext cx="8255003" cy="939803"/>
            <a:chOff x="0" y="0"/>
            <a:chExt cx="11006671" cy="1253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06582" cy="1252982"/>
            </a:xfrm>
            <a:custGeom>
              <a:avLst/>
              <a:gdLst/>
              <a:ahLst/>
              <a:cxnLst/>
              <a:rect r="r" b="b" t="t" l="l"/>
              <a:pathLst>
                <a:path h="1252982" w="110065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10380091" y="0"/>
                  </a:lnTo>
                  <a:cubicBezTo>
                    <a:pt x="10726166" y="0"/>
                    <a:pt x="11006582" y="280543"/>
                    <a:pt x="11006582" y="626491"/>
                  </a:cubicBezTo>
                  <a:cubicBezTo>
                    <a:pt x="11006582" y="972439"/>
                    <a:pt x="10726039" y="1252982"/>
                    <a:pt x="1038009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4663440"/>
            <a:ext cx="8229600" cy="914400"/>
            <a:chOff x="0" y="0"/>
            <a:chExt cx="109728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972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Banco de Dados Não Relacional — MongoDB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3143" y="5967479"/>
            <a:ext cx="537467" cy="537467"/>
            <a:chOff x="0" y="0"/>
            <a:chExt cx="716623" cy="7166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00784" y="5852160"/>
            <a:ext cx="7680960" cy="768096"/>
            <a:chOff x="0" y="0"/>
            <a:chExt cx="1024128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Alicia Silva Dias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79943" y="5967479"/>
            <a:ext cx="537467" cy="537467"/>
            <a:chOff x="0" y="0"/>
            <a:chExt cx="716623" cy="71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387584" y="5852160"/>
            <a:ext cx="7680960" cy="768096"/>
            <a:chOff x="0" y="0"/>
            <a:chExt cx="10241280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Bruna Rodrigues Gomes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6790439"/>
            <a:ext cx="537467" cy="537467"/>
            <a:chOff x="0" y="0"/>
            <a:chExt cx="716623" cy="7166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700784" y="6675120"/>
            <a:ext cx="7680960" cy="768096"/>
            <a:chOff x="0" y="0"/>
            <a:chExt cx="10241280" cy="1024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Bruno Berval Moreira de Godoi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79943" y="6790439"/>
            <a:ext cx="537467" cy="537467"/>
            <a:chOff x="0" y="0"/>
            <a:chExt cx="716623" cy="7166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387584" y="6675120"/>
            <a:ext cx="7680960" cy="768096"/>
            <a:chOff x="0" y="0"/>
            <a:chExt cx="1024128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Pedro Enrique de Jesus Freitas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3143" y="7613399"/>
            <a:ext cx="537467" cy="537467"/>
            <a:chOff x="0" y="0"/>
            <a:chExt cx="716623" cy="7166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00784" y="7498080"/>
            <a:ext cx="7680960" cy="768096"/>
            <a:chOff x="0" y="0"/>
            <a:chExt cx="10241280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Nicolas Kaue da Silva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79943" y="7613399"/>
            <a:ext cx="537467" cy="537467"/>
            <a:chOff x="0" y="0"/>
            <a:chExt cx="716623" cy="71662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387584" y="7498080"/>
            <a:ext cx="7680960" cy="768096"/>
            <a:chOff x="0" y="0"/>
            <a:chExt cx="10241280" cy="1024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Ryan Pedro Tinel de Andrade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3143" y="8436359"/>
            <a:ext cx="537467" cy="537467"/>
            <a:chOff x="0" y="0"/>
            <a:chExt cx="716623" cy="7166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700784" y="8321040"/>
            <a:ext cx="7680960" cy="768096"/>
            <a:chOff x="0" y="0"/>
            <a:chExt cx="1024128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Suelen Souza de Castro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5840" y="9326880"/>
            <a:ext cx="16459200" cy="548640"/>
            <a:chOff x="0" y="0"/>
            <a:chExt cx="219456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FATEC Jacareí  ·  São Paulo  · 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24663"/>
            <a:ext cx="16850363" cy="2860043"/>
            <a:chOff x="0" y="0"/>
            <a:chExt cx="22467151" cy="3813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67188" cy="3813429"/>
            </a:xfrm>
            <a:custGeom>
              <a:avLst/>
              <a:gdLst/>
              <a:ahLst/>
              <a:cxnLst/>
              <a:rect r="r" b="b" t="t" l="l"/>
              <a:pathLst>
                <a:path h="3813429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88720" y="1828800"/>
            <a:ext cx="15910560" cy="2560320"/>
            <a:chOff x="0" y="0"/>
            <a:chExt cx="21214080" cy="3413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140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21408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E1B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empresa 1000 Valle Multimarcas recebe clientes por múltiplos canais — WhatsApp, Instagram, telefone, formulários e atendimento presencial — sem um sistema centralizado de controle.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4925063"/>
            <a:ext cx="5237483" cy="4323083"/>
            <a:chOff x="0" y="0"/>
            <a:chExt cx="6983311" cy="5764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3349" cy="5764149"/>
            </a:xfrm>
            <a:custGeom>
              <a:avLst/>
              <a:gdLst/>
              <a:ahLst/>
              <a:cxnLst/>
              <a:rect r="r" b="b" t="t" l="l"/>
              <a:pathLst>
                <a:path h="576414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5084064"/>
            <a:ext cx="5212080" cy="1005840"/>
            <a:chOff x="0" y="0"/>
            <a:chExt cx="69494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9494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🏢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6126480"/>
            <a:ext cx="5212080" cy="694944"/>
            <a:chOff x="0" y="0"/>
            <a:chExt cx="6949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949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976" y="6949440"/>
            <a:ext cx="4754880" cy="2011680"/>
            <a:chOff x="0" y="0"/>
            <a:chExt cx="633984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398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1000 Valle Multimarcas — concessionária com múltiplas unidades no Vale do Paraíba.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88103" y="4925063"/>
            <a:ext cx="5237483" cy="4323083"/>
            <a:chOff x="0" y="0"/>
            <a:chExt cx="6983311" cy="5764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83349" cy="5764149"/>
            </a:xfrm>
            <a:custGeom>
              <a:avLst/>
              <a:gdLst/>
              <a:ahLst/>
              <a:cxnLst/>
              <a:rect r="r" b="b" t="t" l="l"/>
              <a:pathLst>
                <a:path h="576414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400800" y="5084064"/>
            <a:ext cx="5212080" cy="1005840"/>
            <a:chOff x="0" y="0"/>
            <a:chExt cx="694944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69494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00800" y="6126480"/>
            <a:ext cx="5212080" cy="694944"/>
            <a:chOff x="0" y="0"/>
            <a:chExt cx="694944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949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20256" y="6949440"/>
            <a:ext cx="4754880" cy="2011680"/>
            <a:chOff x="0" y="0"/>
            <a:chExt cx="6339840" cy="2682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3398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Leads chegando por vários canais sem centralização ou rastreamento eficiente.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57383" y="4925063"/>
            <a:ext cx="5237483" cy="4323083"/>
            <a:chOff x="0" y="0"/>
            <a:chExt cx="6983311" cy="5764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83349" cy="5764149"/>
            </a:xfrm>
            <a:custGeom>
              <a:avLst/>
              <a:gdLst/>
              <a:ahLst/>
              <a:cxnLst/>
              <a:rect r="r" b="b" t="t" l="l"/>
              <a:pathLst>
                <a:path h="576414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0080" y="5084064"/>
            <a:ext cx="5212080" cy="1005840"/>
            <a:chOff x="0" y="0"/>
            <a:chExt cx="69494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69494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70080" y="6126480"/>
            <a:ext cx="5212080" cy="694944"/>
            <a:chOff x="0" y="0"/>
            <a:chExt cx="694944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949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Solução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89536" y="6949440"/>
            <a:ext cx="4754880" cy="2011680"/>
            <a:chOff x="0" y="0"/>
            <a:chExt cx="6339840" cy="2682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39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3398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MongoDB não relacional para gerenciar todo o fluxo de leads do CRM.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Estrutura do Banco de Dados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24663"/>
            <a:ext cx="5292347" cy="3591563"/>
            <a:chOff x="0" y="0"/>
            <a:chExt cx="7056463" cy="47887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8823" y="1724663"/>
            <a:ext cx="5292347" cy="1031243"/>
            <a:chOff x="0" y="0"/>
            <a:chExt cx="7056463" cy="1374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37360"/>
            <a:ext cx="4901184" cy="1005840"/>
            <a:chOff x="0" y="0"/>
            <a:chExt cx="6534912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👤  db.clients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871216"/>
            <a:ext cx="4901184" cy="2194560"/>
            <a:chOff x="0" y="0"/>
            <a:chExt cx="6534912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pessoais dos clientes: nome, telefone, email, cidade, CPF.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51527" y="1724663"/>
            <a:ext cx="5292347" cy="3591563"/>
            <a:chOff x="0" y="0"/>
            <a:chExt cx="7056463" cy="4788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351527" y="1724663"/>
            <a:ext cx="5292347" cy="1031243"/>
            <a:chOff x="0" y="0"/>
            <a:chExt cx="7056463" cy="1374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47104" y="1737360"/>
            <a:ext cx="4901184" cy="1005840"/>
            <a:chOff x="0" y="0"/>
            <a:chExt cx="6534912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🏪  db.lojas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47104" y="2871216"/>
            <a:ext cx="4901184" cy="2194560"/>
            <a:chOff x="0" y="0"/>
            <a:chExt cx="6534912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Unidades da empresa com nome, cidade e telefone. 3 unidades cadastradas.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984231" y="1724663"/>
            <a:ext cx="5292347" cy="3591563"/>
            <a:chOff x="0" y="0"/>
            <a:chExt cx="7056463" cy="47887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984231" y="1724663"/>
            <a:ext cx="5292347" cy="1031243"/>
            <a:chOff x="0" y="0"/>
            <a:chExt cx="7056463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79808" y="1737360"/>
            <a:ext cx="4901184" cy="1005840"/>
            <a:chOff x="0" y="0"/>
            <a:chExt cx="6534912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👥  db.usuarios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179808" y="2871216"/>
            <a:ext cx="4901184" cy="2194560"/>
            <a:chOff x="0" y="0"/>
            <a:chExt cx="6534912" cy="292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Atendentes, gerentes e admins. Referencia a loja via loja_id.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8823" y="5656583"/>
            <a:ext cx="5292347" cy="3591563"/>
            <a:chOff x="0" y="0"/>
            <a:chExt cx="7056463" cy="47887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18823" y="5656583"/>
            <a:ext cx="5292347" cy="1031243"/>
            <a:chOff x="0" y="0"/>
            <a:chExt cx="7056463" cy="1374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5669280"/>
            <a:ext cx="4901184" cy="1005840"/>
            <a:chOff x="0" y="0"/>
            <a:chExt cx="6534912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🎯  db.leads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6803136"/>
            <a:ext cx="4901184" cy="2194560"/>
            <a:chOff x="0" y="0"/>
            <a:chExt cx="6534912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Collection central: origem, status, importância (1–10), veículo, datas.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51527" y="5656583"/>
            <a:ext cx="5292347" cy="3591563"/>
            <a:chOff x="0" y="0"/>
            <a:chExt cx="7056463" cy="47887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351527" y="5656583"/>
            <a:ext cx="5292347" cy="1031243"/>
            <a:chOff x="0" y="0"/>
            <a:chExt cx="7056463" cy="1374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547104" y="5669280"/>
            <a:ext cx="4901184" cy="1005840"/>
            <a:chOff x="0" y="0"/>
            <a:chExt cx="6534912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🤝  db.negociacoes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47104" y="6803136"/>
            <a:ext cx="4901184" cy="2194560"/>
            <a:chOff x="0" y="0"/>
            <a:chExt cx="6534912" cy="2926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Histórico da negociação embutido (embedding) com etapas e datas.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84231" y="5656583"/>
            <a:ext cx="5292347" cy="3591563"/>
            <a:chOff x="0" y="0"/>
            <a:chExt cx="7056463" cy="47887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56501" cy="4788789"/>
            </a:xfrm>
            <a:custGeom>
              <a:avLst/>
              <a:gdLst/>
              <a:ahLst/>
              <a:cxnLst/>
              <a:rect r="r" b="b" t="t" l="l"/>
              <a:pathLst>
                <a:path h="478878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4788789"/>
                  </a:lnTo>
                  <a:lnTo>
                    <a:pt x="0" y="478878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984231" y="5656583"/>
            <a:ext cx="5292347" cy="1031243"/>
            <a:chOff x="0" y="0"/>
            <a:chExt cx="7056463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56501" cy="1375029"/>
            </a:xfrm>
            <a:custGeom>
              <a:avLst/>
              <a:gdLst/>
              <a:ahLst/>
              <a:cxnLst/>
              <a:rect r="r" b="b" t="t" l="l"/>
              <a:pathLst>
                <a:path h="1375029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179808" y="5669280"/>
            <a:ext cx="4901184" cy="1005840"/>
            <a:chOff x="0" y="0"/>
            <a:chExt cx="6534912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349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45" r="0" b="-449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53491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📋  db.logs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79808" y="6803136"/>
            <a:ext cx="4901184" cy="2194560"/>
            <a:chOff x="0" y="0"/>
            <a:chExt cx="6534912" cy="2926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349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534912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todas as ações dos usuários para auditoria.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Modelagem: Embedding &amp; Referencing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24663"/>
            <a:ext cx="8072123" cy="7523483"/>
            <a:chOff x="0" y="0"/>
            <a:chExt cx="10762831" cy="100313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86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8823" y="1724663"/>
            <a:ext cx="8072123" cy="1122683"/>
            <a:chOff x="0" y="0"/>
            <a:chExt cx="10762831" cy="14969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1737360"/>
            <a:ext cx="7498080" cy="1097280"/>
            <a:chOff x="0" y="0"/>
            <a:chExt cx="99974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9974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 Embedding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017520"/>
            <a:ext cx="7498080" cy="2743200"/>
            <a:chOff x="0" y="0"/>
            <a:chExt cx="999744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370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aninhados dentro do mesmo documento.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Usado em db.negociacoes → campo historico[] armazena todas as etapas da negociação.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Vantagem: consulta única, sem joins.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976" y="5943600"/>
            <a:ext cx="7607808" cy="3017520"/>
            <a:chOff x="0" y="0"/>
            <a:chExt cx="10143744" cy="4023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437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9" t="0" r="-88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43744" cy="4061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historico: [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{ status: "Lead recebido",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  estagio: "Primeiro contato",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  data: ISODate("2026-05-26") },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{ status: "Proposta enviada",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  estagio: "Negociação",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    data: ISODate("2026-05-26") }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64E3B"/>
                  </a:solidFill>
                  <a:latin typeface="Consolas"/>
                  <a:ea typeface="Consolas"/>
                  <a:cs typeface="Consolas"/>
                  <a:sym typeface="Consolas"/>
                </a:rPr>
                <a:t>]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97063" y="1724663"/>
            <a:ext cx="8072123" cy="7523483"/>
            <a:chOff x="0" y="0"/>
            <a:chExt cx="10762831" cy="10031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86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EEF2FF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97063" y="1724663"/>
            <a:ext cx="8072123" cy="1122683"/>
            <a:chOff x="0" y="0"/>
            <a:chExt cx="10762831" cy="14969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84080" y="1737360"/>
            <a:ext cx="7498080" cy="1097280"/>
            <a:chOff x="0" y="0"/>
            <a:chExt cx="99974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9974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 Referencing (ObjectId)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84080" y="3017520"/>
            <a:ext cx="7498080" cy="2743200"/>
            <a:chOff x="0" y="0"/>
            <a:chExt cx="9997440" cy="365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997440" cy="370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Documentos separados ligados por ObjectId.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Usado em db.leads → cliente_id, loja_id e atendente_id apontam para outras collections.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Vantagem: evita duplicação de dados.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29216" y="5943600"/>
            <a:ext cx="7607808" cy="3017520"/>
            <a:chOff x="0" y="0"/>
            <a:chExt cx="10143744" cy="4023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437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9" t="0" r="-88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143744" cy="4061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_id: 1,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cliente_id: "12345678900",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loja_id: 1,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atendente_id: 101,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origem: "WhatsApp",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status: "Novo",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  importancia: 8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12E8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Consultas: $and  •  $or  •  $gt  •  $lt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24663"/>
            <a:ext cx="5511803" cy="7523483"/>
            <a:chOff x="0" y="0"/>
            <a:chExt cx="7349071" cy="100313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4910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8823" y="1724663"/>
            <a:ext cx="5511803" cy="1086107"/>
            <a:chOff x="0" y="0"/>
            <a:chExt cx="7349071" cy="14481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9109" cy="1448181"/>
            </a:xfrm>
            <a:custGeom>
              <a:avLst/>
              <a:gdLst/>
              <a:ahLst/>
              <a:cxnLst/>
              <a:rect r="r" b="b" t="t" l="l"/>
              <a:pathLst>
                <a:path h="1448181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1737360"/>
            <a:ext cx="5029200" cy="1060704"/>
            <a:chOff x="0" y="0"/>
            <a:chExt cx="670560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70560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$and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2926080"/>
            <a:ext cx="5029200" cy="1371600"/>
            <a:chOff x="0" y="0"/>
            <a:chExt cx="670560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7056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Retorna documentos que satisfazem TODAS as condições.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4467863"/>
            <a:ext cx="5146043" cy="4414523"/>
            <a:chOff x="0" y="0"/>
            <a:chExt cx="6861391" cy="58860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1429" cy="5886069"/>
            </a:xfrm>
            <a:custGeom>
              <a:avLst/>
              <a:gdLst/>
              <a:ahLst/>
              <a:cxnLst/>
              <a:rect r="r" b="b" t="t" l="l"/>
              <a:pathLst>
                <a:path h="588606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886069"/>
                  </a:lnTo>
                  <a:lnTo>
                    <a:pt x="0" y="588606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60704" y="4608576"/>
            <a:ext cx="4828032" cy="4169664"/>
            <a:chOff x="0" y="0"/>
            <a:chExt cx="6437376" cy="55595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37376" cy="5559552"/>
            </a:xfrm>
            <a:custGeom>
              <a:avLst/>
              <a:gdLst/>
              <a:ahLst/>
              <a:cxnLst/>
              <a:rect r="r" b="b" t="t" l="l"/>
              <a:pathLst>
                <a:path h="555955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5559552"/>
                  </a:lnTo>
                  <a:lnTo>
                    <a:pt x="0" y="5559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807" t="0" r="-6080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37376" cy="5597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db.leads.find({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$and: [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{ status: "Em andamento" },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{ importancia: { $gt: 5 } }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]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})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0983" y="1724663"/>
            <a:ext cx="5511803" cy="7523483"/>
            <a:chOff x="0" y="0"/>
            <a:chExt cx="7349071" cy="100313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910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570983" y="1724663"/>
            <a:ext cx="5511803" cy="1086107"/>
            <a:chOff x="0" y="0"/>
            <a:chExt cx="7349071" cy="14481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9109" cy="1448181"/>
            </a:xfrm>
            <a:custGeom>
              <a:avLst/>
              <a:gdLst/>
              <a:ahLst/>
              <a:cxnLst/>
              <a:rect r="r" b="b" t="t" l="l"/>
              <a:pathLst>
                <a:path h="1448181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03136" y="1737360"/>
            <a:ext cx="5029200" cy="1060704"/>
            <a:chOff x="0" y="0"/>
            <a:chExt cx="67056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670560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3136" y="2926080"/>
            <a:ext cx="5029200" cy="1371600"/>
            <a:chOff x="0" y="0"/>
            <a:chExt cx="670560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0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7056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Retorna documentos que satisfazem AO MENOS UMA condição.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53863" y="4467863"/>
            <a:ext cx="5146043" cy="4414523"/>
            <a:chOff x="0" y="0"/>
            <a:chExt cx="6861391" cy="58860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61429" cy="5886069"/>
            </a:xfrm>
            <a:custGeom>
              <a:avLst/>
              <a:gdLst/>
              <a:ahLst/>
              <a:cxnLst/>
              <a:rect r="r" b="b" t="t" l="l"/>
              <a:pathLst>
                <a:path h="588606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886069"/>
                  </a:lnTo>
                  <a:lnTo>
                    <a:pt x="0" y="588606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912864" y="4608576"/>
            <a:ext cx="4828032" cy="4169664"/>
            <a:chOff x="0" y="0"/>
            <a:chExt cx="6437376" cy="55595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37376" cy="5559552"/>
            </a:xfrm>
            <a:custGeom>
              <a:avLst/>
              <a:gdLst/>
              <a:ahLst/>
              <a:cxnLst/>
              <a:rect r="r" b="b" t="t" l="l"/>
              <a:pathLst>
                <a:path h="555955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5559552"/>
                  </a:lnTo>
                  <a:lnTo>
                    <a:pt x="0" y="5559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807" t="0" r="-6080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437376" cy="5597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db.leads.find({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$or: [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{ origem: "WhatsApp" },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{ origem: "Instagram" }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]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})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23143" y="1724663"/>
            <a:ext cx="5511803" cy="7523483"/>
            <a:chOff x="0" y="0"/>
            <a:chExt cx="7349071" cy="100313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4910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423143" y="1724663"/>
            <a:ext cx="5511803" cy="1086107"/>
            <a:chOff x="0" y="0"/>
            <a:chExt cx="7349071" cy="14481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9109" cy="1448181"/>
            </a:xfrm>
            <a:custGeom>
              <a:avLst/>
              <a:gdLst/>
              <a:ahLst/>
              <a:cxnLst/>
              <a:rect r="r" b="b" t="t" l="l"/>
              <a:pathLst>
                <a:path h="1448181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655296" y="1737360"/>
            <a:ext cx="5029200" cy="1060704"/>
            <a:chOff x="0" y="0"/>
            <a:chExt cx="6705600" cy="1414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056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70560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$gt / $lt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55296" y="2926080"/>
            <a:ext cx="5029200" cy="1371600"/>
            <a:chOff x="0" y="0"/>
            <a:chExt cx="670560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0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7056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Comparações numéricas: maior que (gt) e menor que (lt).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06023" y="4467863"/>
            <a:ext cx="5146043" cy="4414523"/>
            <a:chOff x="0" y="0"/>
            <a:chExt cx="6861391" cy="58860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61429" cy="5886069"/>
            </a:xfrm>
            <a:custGeom>
              <a:avLst/>
              <a:gdLst/>
              <a:ahLst/>
              <a:cxnLst/>
              <a:rect r="r" b="b" t="t" l="l"/>
              <a:pathLst>
                <a:path h="588606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886069"/>
                  </a:lnTo>
                  <a:lnTo>
                    <a:pt x="0" y="588606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765024" y="4608576"/>
            <a:ext cx="4828032" cy="4169664"/>
            <a:chOff x="0" y="0"/>
            <a:chExt cx="6437376" cy="55595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37376" cy="5559552"/>
            </a:xfrm>
            <a:custGeom>
              <a:avLst/>
              <a:gdLst/>
              <a:ahLst/>
              <a:cxnLst/>
              <a:rect r="r" b="b" t="t" l="l"/>
              <a:pathLst>
                <a:path h="555955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5559552"/>
                  </a:lnTo>
                  <a:lnTo>
                    <a:pt x="0" y="5559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807" t="0" r="-6080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437376" cy="5597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db.leads.find({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importancia: 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$gt: 3,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$lt: 8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})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Consultas: $exists  •  Projeção  •  sort()  •  Paginação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7383" y="1724663"/>
            <a:ext cx="4048763" cy="7523483"/>
            <a:chOff x="0" y="0"/>
            <a:chExt cx="5398351" cy="100313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9838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FEE2E2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27383" y="1724663"/>
            <a:ext cx="4048763" cy="1031243"/>
            <a:chOff x="0" y="0"/>
            <a:chExt cx="5398351" cy="1374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1737360"/>
            <a:ext cx="3730752" cy="1005840"/>
            <a:chOff x="0" y="0"/>
            <a:chExt cx="4974336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43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1" r="0" b="-222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974336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$exists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6384" y="2871216"/>
            <a:ext cx="3730752" cy="1463040"/>
            <a:chOff x="0" y="0"/>
            <a:chExt cx="4974336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4336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974336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 presença ou ausência de um campo.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3687" y="4467863"/>
            <a:ext cx="3774443" cy="4505963"/>
            <a:chOff x="0" y="0"/>
            <a:chExt cx="5032591" cy="6007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2629" cy="6007989"/>
            </a:xfrm>
            <a:custGeom>
              <a:avLst/>
              <a:gdLst/>
              <a:ahLst/>
              <a:cxnLst/>
              <a:rect r="r" b="b" t="t" l="l"/>
              <a:pathLst>
                <a:path h="6007989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6007989"/>
                  </a:lnTo>
                  <a:lnTo>
                    <a:pt x="0" y="600798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77824" y="4608576"/>
            <a:ext cx="3566160" cy="4297680"/>
            <a:chOff x="0" y="0"/>
            <a:chExt cx="4754880" cy="573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22" t="0" r="-10462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75488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db.clientes.find({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email: {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$exists: true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})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25063" y="1724663"/>
            <a:ext cx="4048763" cy="7523483"/>
            <a:chOff x="0" y="0"/>
            <a:chExt cx="5398351" cy="100313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9838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925063" y="1724663"/>
            <a:ext cx="4048763" cy="1031243"/>
            <a:chOff x="0" y="0"/>
            <a:chExt cx="539835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084064" y="1737360"/>
            <a:ext cx="3730752" cy="1005840"/>
            <a:chOff x="0" y="0"/>
            <a:chExt cx="4974336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743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1" r="0" b="-2227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974336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Projeção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84064" y="2871216"/>
            <a:ext cx="3730752" cy="1463040"/>
            <a:chOff x="0" y="0"/>
            <a:chExt cx="4974336" cy="195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74336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974336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Seleciona apenas os campos necessários.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071367" y="4467863"/>
            <a:ext cx="3774443" cy="4505963"/>
            <a:chOff x="0" y="0"/>
            <a:chExt cx="5032591" cy="6007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32629" cy="6007989"/>
            </a:xfrm>
            <a:custGeom>
              <a:avLst/>
              <a:gdLst/>
              <a:ahLst/>
              <a:cxnLst/>
              <a:rect r="r" b="b" t="t" l="l"/>
              <a:pathLst>
                <a:path h="6007989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6007989"/>
                  </a:lnTo>
                  <a:lnTo>
                    <a:pt x="0" y="600798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175504" y="4608576"/>
            <a:ext cx="3566160" cy="4297680"/>
            <a:chOff x="0" y="0"/>
            <a:chExt cx="4754880" cy="573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22" t="0" r="-10462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75488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db.clientes.find(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{},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{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nome: 1,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email: 1,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_id: 0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22743" y="1724663"/>
            <a:ext cx="4048763" cy="7523483"/>
            <a:chOff x="0" y="0"/>
            <a:chExt cx="5398351" cy="100313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838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222743" y="1724663"/>
            <a:ext cx="4048763" cy="1031243"/>
            <a:chOff x="0" y="0"/>
            <a:chExt cx="5398351" cy="1374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381744" y="1737360"/>
            <a:ext cx="3730752" cy="1005840"/>
            <a:chOff x="0" y="0"/>
            <a:chExt cx="4974336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743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1" r="0" b="-222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974336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sort()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81744" y="2871216"/>
            <a:ext cx="3730752" cy="1463040"/>
            <a:chOff x="0" y="0"/>
            <a:chExt cx="4974336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74336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974336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Ordena resultados crescente (1) ou decrescente (-1).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69047" y="4467863"/>
            <a:ext cx="3774443" cy="4505963"/>
            <a:chOff x="0" y="0"/>
            <a:chExt cx="5032591" cy="60079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32629" cy="6007989"/>
            </a:xfrm>
            <a:custGeom>
              <a:avLst/>
              <a:gdLst/>
              <a:ahLst/>
              <a:cxnLst/>
              <a:rect r="r" b="b" t="t" l="l"/>
              <a:pathLst>
                <a:path h="6007989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6007989"/>
                  </a:lnTo>
                  <a:lnTo>
                    <a:pt x="0" y="600798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473184" y="4608576"/>
            <a:ext cx="3566160" cy="4297680"/>
            <a:chOff x="0" y="0"/>
            <a:chExt cx="4754880" cy="573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548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22" t="0" r="-10462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75488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db.leads.find()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.sort({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  importancia: -1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})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520423" y="1724663"/>
            <a:ext cx="4048763" cy="7523483"/>
            <a:chOff x="0" y="0"/>
            <a:chExt cx="5398351" cy="1003131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98389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0031349"/>
                  </a:lnTo>
                  <a:lnTo>
                    <a:pt x="0" y="10031349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520423" y="1724663"/>
            <a:ext cx="4048763" cy="1031243"/>
            <a:chOff x="0" y="0"/>
            <a:chExt cx="5398351" cy="13749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679424" y="1737360"/>
            <a:ext cx="3730752" cy="1005840"/>
            <a:chOff x="0" y="0"/>
            <a:chExt cx="4974336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743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1" r="0" b="-222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4974336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skip()/limit()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79424" y="2871216"/>
            <a:ext cx="3730752" cy="1463040"/>
            <a:chOff x="0" y="0"/>
            <a:chExt cx="4974336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74336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974336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Paginação: pula registros e limita a quantidade exibida.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66727" y="4467863"/>
            <a:ext cx="3774443" cy="4505963"/>
            <a:chOff x="0" y="0"/>
            <a:chExt cx="5032591" cy="60079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032629" cy="6007989"/>
            </a:xfrm>
            <a:custGeom>
              <a:avLst/>
              <a:gdLst/>
              <a:ahLst/>
              <a:cxnLst/>
              <a:rect r="r" b="b" t="t" l="l"/>
              <a:pathLst>
                <a:path h="6007989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6007989"/>
                  </a:lnTo>
                  <a:lnTo>
                    <a:pt x="0" y="600798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770864" y="4608576"/>
            <a:ext cx="3566160" cy="4297680"/>
            <a:chOff x="0" y="0"/>
            <a:chExt cx="4754880" cy="5730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548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22" t="0" r="-10462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75488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db.leads.find()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.skip(2)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  .limit(2)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Aggregations — Indicadores Gerenciais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24663"/>
            <a:ext cx="3170939" cy="6517643"/>
            <a:chOff x="0" y="0"/>
            <a:chExt cx="4227919" cy="8690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27957" cy="8690229"/>
            </a:xfrm>
            <a:custGeom>
              <a:avLst/>
              <a:gdLst/>
              <a:ahLst/>
              <a:cxnLst/>
              <a:rect r="r" b="b" t="t" l="l"/>
              <a:pathLst>
                <a:path h="8690229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816103" y="1907543"/>
            <a:ext cx="976379" cy="976379"/>
            <a:chOff x="0" y="0"/>
            <a:chExt cx="1301839" cy="1301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1920240"/>
            <a:ext cx="950976" cy="950976"/>
            <a:chOff x="0" y="0"/>
            <a:chExt cx="1267968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7824" y="3108960"/>
            <a:ext cx="2852928" cy="914400"/>
            <a:chOff x="0" y="0"/>
            <a:chExt cx="3803904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039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" r="0" b="-107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0390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Origem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7824" y="4169664"/>
            <a:ext cx="2852928" cy="3566160"/>
            <a:chOff x="0" y="0"/>
            <a:chExt cx="3803904" cy="4754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39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803904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Canal de captação: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WhatsApp, Instagram,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Telefone, Formulário,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Presencial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56967" y="1724663"/>
            <a:ext cx="3170939" cy="6517643"/>
            <a:chOff x="0" y="0"/>
            <a:chExt cx="4227919" cy="86901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27957" cy="8690229"/>
            </a:xfrm>
            <a:custGeom>
              <a:avLst/>
              <a:gdLst/>
              <a:ahLst/>
              <a:cxnLst/>
              <a:rect r="r" b="b" t="t" l="l"/>
              <a:pathLst>
                <a:path h="8690229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54247" y="1907543"/>
            <a:ext cx="976379" cy="976379"/>
            <a:chOff x="0" y="0"/>
            <a:chExt cx="1301839" cy="1301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266944" y="1920240"/>
            <a:ext cx="950976" cy="950976"/>
            <a:chOff x="0" y="0"/>
            <a:chExt cx="1267968" cy="12679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315968" y="3108960"/>
            <a:ext cx="2852928" cy="914400"/>
            <a:chOff x="0" y="0"/>
            <a:chExt cx="3803904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039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" r="0" b="-1079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80390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Status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15968" y="4169664"/>
            <a:ext cx="2852928" cy="3566160"/>
            <a:chOff x="0" y="0"/>
            <a:chExt cx="3803904" cy="4754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039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803904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comercial: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Novo, Em andamento,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Fechado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95111" y="1724663"/>
            <a:ext cx="3170939" cy="6517643"/>
            <a:chOff x="0" y="0"/>
            <a:chExt cx="4227919" cy="86901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27957" cy="8690229"/>
            </a:xfrm>
            <a:custGeom>
              <a:avLst/>
              <a:gdLst/>
              <a:ahLst/>
              <a:cxnLst/>
              <a:rect r="r" b="b" t="t" l="l"/>
              <a:pathLst>
                <a:path h="8690229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692391" y="1907543"/>
            <a:ext cx="976379" cy="976379"/>
            <a:chOff x="0" y="0"/>
            <a:chExt cx="1301839" cy="130183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705088" y="1920240"/>
            <a:ext cx="950976" cy="950976"/>
            <a:chOff x="0" y="0"/>
            <a:chExt cx="1267968" cy="12679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754112" y="3108960"/>
            <a:ext cx="2852928" cy="914400"/>
            <a:chOff x="0" y="0"/>
            <a:chExt cx="3803904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039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" r="0" b="-1079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80390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Importância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54112" y="4169664"/>
            <a:ext cx="2852928" cy="3566160"/>
            <a:chOff x="0" y="0"/>
            <a:chExt cx="3803904" cy="4754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039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3803904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Nível de prioridade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a 10 para identificar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negociações estratégicas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033255" y="1724663"/>
            <a:ext cx="3170939" cy="6517643"/>
            <a:chOff x="0" y="0"/>
            <a:chExt cx="4227919" cy="86901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27957" cy="8690229"/>
            </a:xfrm>
            <a:custGeom>
              <a:avLst/>
              <a:gdLst/>
              <a:ahLst/>
              <a:cxnLst/>
              <a:rect r="r" b="b" t="t" l="l"/>
              <a:pathLst>
                <a:path h="8690229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130535" y="1907543"/>
            <a:ext cx="976379" cy="976379"/>
            <a:chOff x="0" y="0"/>
            <a:chExt cx="1301839" cy="13018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143232" y="1920240"/>
            <a:ext cx="950976" cy="950976"/>
            <a:chOff x="0" y="0"/>
            <a:chExt cx="1267968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92256" y="3108960"/>
            <a:ext cx="2852928" cy="914400"/>
            <a:chOff x="0" y="0"/>
            <a:chExt cx="3803904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039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" r="0" b="-107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80390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Atendente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92256" y="4169664"/>
            <a:ext cx="2852928" cy="3566160"/>
            <a:chOff x="0" y="0"/>
            <a:chExt cx="3803904" cy="47548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039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803904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Distribuição de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atendimentos entre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 colaboradores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1399" y="1724663"/>
            <a:ext cx="3170939" cy="6517643"/>
            <a:chOff x="0" y="0"/>
            <a:chExt cx="4227919" cy="86901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27957" cy="8690229"/>
            </a:xfrm>
            <a:custGeom>
              <a:avLst/>
              <a:gdLst/>
              <a:ahLst/>
              <a:cxnLst/>
              <a:rect r="r" b="b" t="t" l="l"/>
              <a:pathLst>
                <a:path h="8690229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EE2E2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568679" y="1907543"/>
            <a:ext cx="976379" cy="976379"/>
            <a:chOff x="0" y="0"/>
            <a:chExt cx="1301839" cy="13018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5581376" y="1920240"/>
            <a:ext cx="950976" cy="950976"/>
            <a:chOff x="0" y="0"/>
            <a:chExt cx="1267968" cy="12679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630400" y="3108960"/>
            <a:ext cx="2852928" cy="914400"/>
            <a:chOff x="0" y="0"/>
            <a:chExt cx="3803904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039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" r="0" b="-1079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80390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Taxa de Conversão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630400" y="4169664"/>
            <a:ext cx="2852928" cy="3566160"/>
            <a:chOff x="0" y="0"/>
            <a:chExt cx="3803904" cy="47548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8039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803904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Leads "Fechado" vs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— mede eficiência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comercial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18823" y="8436359"/>
            <a:ext cx="16850363" cy="1122683"/>
            <a:chOff x="0" y="0"/>
            <a:chExt cx="22467151" cy="1496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467188" cy="1496949"/>
            </a:xfrm>
            <a:custGeom>
              <a:avLst/>
              <a:gdLst/>
              <a:ahLst/>
              <a:cxnLst/>
              <a:rect r="r" b="b" t="t" l="l"/>
              <a:pathLst>
                <a:path h="1496949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1E1B2E"/>
            </a:solidFill>
            <a:ln w="25400" cap="sq">
              <a:solidFill>
                <a:srgbClr val="1E1B2E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05840" y="8449056"/>
            <a:ext cx="16459200" cy="1097280"/>
            <a:chOff x="0" y="0"/>
            <a:chExt cx="2194560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6EFAC"/>
                  </a:solidFill>
                  <a:latin typeface="Consolas"/>
                  <a:ea typeface="Consolas"/>
                  <a:cs typeface="Consolas"/>
                  <a:sym typeface="Consolas"/>
                </a:rPr>
                <a:t>$group: { _id: "$origem", total: { $sum: 1 } }   →   $group por $status com $project   →   $group por $atendente_id com $sort: { total: -1 }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Resumo dos Operadores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633223"/>
            <a:ext cx="2951483" cy="793499"/>
            <a:chOff x="0" y="0"/>
            <a:chExt cx="3935311" cy="10579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645920"/>
            <a:ext cx="2651760" cy="768096"/>
            <a:chOff x="0" y="0"/>
            <a:chExt cx="353568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Operador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44903" y="1633223"/>
            <a:ext cx="7249163" cy="793499"/>
            <a:chOff x="0" y="0"/>
            <a:chExt cx="9665551" cy="1057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840480" y="1645920"/>
            <a:ext cx="6949440" cy="768096"/>
            <a:chOff x="0" y="0"/>
            <a:chExt cx="926592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Função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68663" y="1633223"/>
            <a:ext cx="6151883" cy="793499"/>
            <a:chOff x="0" y="0"/>
            <a:chExt cx="8202511" cy="1057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064240" y="1645920"/>
            <a:ext cx="5852160" cy="768096"/>
            <a:chOff x="0" y="0"/>
            <a:chExt cx="780288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Exemplo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18823" y="2401319"/>
            <a:ext cx="2951483" cy="793499"/>
            <a:chOff x="0" y="0"/>
            <a:chExt cx="3935311" cy="10579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414016"/>
            <a:ext cx="2651760" cy="768096"/>
            <a:chOff x="0" y="0"/>
            <a:chExt cx="353568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$and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44903" y="2401319"/>
            <a:ext cx="7249163" cy="793499"/>
            <a:chOff x="0" y="0"/>
            <a:chExt cx="9665551" cy="1057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3840480" y="2414016"/>
            <a:ext cx="6949440" cy="768096"/>
            <a:chOff x="0" y="0"/>
            <a:chExt cx="926592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Todas as condições verdadeiras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68663" y="2401319"/>
            <a:ext cx="6151883" cy="793499"/>
            <a:chOff x="0" y="0"/>
            <a:chExt cx="8202511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64240" y="2414016"/>
            <a:ext cx="5852160" cy="768096"/>
            <a:chOff x="0" y="0"/>
            <a:chExt cx="780288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status="NOVO" e importancia&gt;5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8823" y="3169415"/>
            <a:ext cx="2951483" cy="793499"/>
            <a:chOff x="0" y="0"/>
            <a:chExt cx="3935311" cy="10579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3182112"/>
            <a:ext cx="2651760" cy="768096"/>
            <a:chOff x="0" y="0"/>
            <a:chExt cx="353568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$or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644903" y="3169415"/>
            <a:ext cx="7249163" cy="793499"/>
            <a:chOff x="0" y="0"/>
            <a:chExt cx="9665551" cy="105799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840480" y="3182112"/>
            <a:ext cx="6949440" cy="768096"/>
            <a:chOff x="0" y="0"/>
            <a:chExt cx="92659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Ao menos uma condição verdadeira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868663" y="3169415"/>
            <a:ext cx="6151883" cy="793499"/>
            <a:chOff x="0" y="0"/>
            <a:chExt cx="8202511" cy="10579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064240" y="3182112"/>
            <a:ext cx="5852160" cy="768096"/>
            <a:chOff x="0" y="0"/>
            <a:chExt cx="7802880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origem="WhatsApp" ou "Instagram"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18823" y="3937511"/>
            <a:ext cx="2951483" cy="793499"/>
            <a:chOff x="0" y="0"/>
            <a:chExt cx="3935311" cy="10579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3950208"/>
            <a:ext cx="2651760" cy="768096"/>
            <a:chOff x="0" y="0"/>
            <a:chExt cx="353568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$gt / $lt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644903" y="3937511"/>
            <a:ext cx="7249163" cy="793499"/>
            <a:chOff x="0" y="0"/>
            <a:chExt cx="9665551" cy="10579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3840480" y="3950208"/>
            <a:ext cx="6949440" cy="768096"/>
            <a:chOff x="0" y="0"/>
            <a:chExt cx="926592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Comparações numéricas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68663" y="3937511"/>
            <a:ext cx="6151883" cy="793499"/>
            <a:chOff x="0" y="0"/>
            <a:chExt cx="8202511" cy="105799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064240" y="3950208"/>
            <a:ext cx="5852160" cy="768096"/>
            <a:chOff x="0" y="0"/>
            <a:chExt cx="780288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importância &gt; 3  e  &lt; 8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18823" y="4705607"/>
            <a:ext cx="2951483" cy="793499"/>
            <a:chOff x="0" y="0"/>
            <a:chExt cx="3935311" cy="10579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14400" y="4718304"/>
            <a:ext cx="2651760" cy="768096"/>
            <a:chOff x="0" y="0"/>
            <a:chExt cx="3535680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$exists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644903" y="4705607"/>
            <a:ext cx="7249163" cy="793499"/>
            <a:chOff x="0" y="0"/>
            <a:chExt cx="9665551" cy="105799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3840480" y="4718304"/>
            <a:ext cx="6949440" cy="768096"/>
            <a:chOff x="0" y="0"/>
            <a:chExt cx="926592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 existência de campo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868663" y="4705607"/>
            <a:ext cx="6151883" cy="793499"/>
            <a:chOff x="0" y="0"/>
            <a:chExt cx="8202511" cy="10579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064240" y="4718304"/>
            <a:ext cx="5852160" cy="768096"/>
            <a:chOff x="0" y="0"/>
            <a:chExt cx="780288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 existe na collection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18823" y="5473703"/>
            <a:ext cx="2951483" cy="793499"/>
            <a:chOff x="0" y="0"/>
            <a:chExt cx="3935311" cy="105799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14400" y="5486400"/>
            <a:ext cx="2651760" cy="768096"/>
            <a:chOff x="0" y="0"/>
            <a:chExt cx="3535680" cy="10241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Projeção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644903" y="5473703"/>
            <a:ext cx="7249163" cy="793499"/>
            <a:chOff x="0" y="0"/>
            <a:chExt cx="9665551" cy="105799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3840480" y="5486400"/>
            <a:ext cx="6949440" cy="768096"/>
            <a:chOff x="0" y="0"/>
            <a:chExt cx="9265920" cy="102412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Exibe apenas campos selecionados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868663" y="5473703"/>
            <a:ext cx="6151883" cy="793499"/>
            <a:chOff x="0" y="0"/>
            <a:chExt cx="8202511" cy="105799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064240" y="5486400"/>
            <a:ext cx="5852160" cy="768096"/>
            <a:chOff x="0" y="0"/>
            <a:chExt cx="7802880" cy="102412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mostrar nome e email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18823" y="6241799"/>
            <a:ext cx="2951483" cy="793499"/>
            <a:chOff x="0" y="0"/>
            <a:chExt cx="3935311" cy="105799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14400" y="6254496"/>
            <a:ext cx="2651760" cy="768096"/>
            <a:chOff x="0" y="0"/>
            <a:chExt cx="3535680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sort()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3644903" y="6241799"/>
            <a:ext cx="7249163" cy="793499"/>
            <a:chOff x="0" y="0"/>
            <a:chExt cx="9665551" cy="105799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3840480" y="6254496"/>
            <a:ext cx="6949440" cy="768096"/>
            <a:chOff x="0" y="0"/>
            <a:chExt cx="926592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Ordena crescente ou decrescente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868663" y="6241799"/>
            <a:ext cx="6151883" cy="793499"/>
            <a:chOff x="0" y="0"/>
            <a:chExt cx="8202511" cy="105799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064240" y="6254496"/>
            <a:ext cx="5852160" cy="768096"/>
            <a:chOff x="0" y="0"/>
            <a:chExt cx="7802880" cy="102412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importância: -1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18823" y="7009895"/>
            <a:ext cx="2951483" cy="793499"/>
            <a:chOff x="0" y="0"/>
            <a:chExt cx="3935311" cy="105799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914400" y="7022592"/>
            <a:ext cx="2651760" cy="768096"/>
            <a:chOff x="0" y="0"/>
            <a:chExt cx="3535680" cy="10241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skip()/limit()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644903" y="7009895"/>
            <a:ext cx="7249163" cy="793499"/>
            <a:chOff x="0" y="0"/>
            <a:chExt cx="9665551" cy="105799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3840480" y="7022592"/>
            <a:ext cx="6949440" cy="768096"/>
            <a:chOff x="0" y="0"/>
            <a:chExt cx="9265920" cy="102412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Paginação dos resultados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868663" y="7009895"/>
            <a:ext cx="6151883" cy="793499"/>
            <a:chOff x="0" y="0"/>
            <a:chExt cx="8202511" cy="105799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064240" y="7022592"/>
            <a:ext cx="5852160" cy="768096"/>
            <a:chOff x="0" y="0"/>
            <a:chExt cx="7802880" cy="102412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skip(2).limit(2)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18823" y="7777991"/>
            <a:ext cx="2951483" cy="793499"/>
            <a:chOff x="0" y="0"/>
            <a:chExt cx="3935311" cy="105799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14400" y="7790688"/>
            <a:ext cx="2651760" cy="768096"/>
            <a:chOff x="0" y="0"/>
            <a:chExt cx="3535680" cy="102412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aggregate()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3644903" y="7777991"/>
            <a:ext cx="7249163" cy="793499"/>
            <a:chOff x="0" y="0"/>
            <a:chExt cx="9665551" cy="105799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3840480" y="7790688"/>
            <a:ext cx="6949440" cy="768096"/>
            <a:chOff x="0" y="0"/>
            <a:chExt cx="9265920" cy="102412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de análise de dados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868663" y="7777991"/>
            <a:ext cx="6151883" cy="793499"/>
            <a:chOff x="0" y="0"/>
            <a:chExt cx="8202511" cy="105799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11064240" y="7790688"/>
            <a:ext cx="5852160" cy="768096"/>
            <a:chOff x="0" y="0"/>
            <a:chExt cx="7802880" cy="102412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relatórios gerenciais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718823" y="8546087"/>
            <a:ext cx="2951483" cy="793499"/>
            <a:chOff x="0" y="0"/>
            <a:chExt cx="3935311" cy="1057999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914400" y="8558784"/>
            <a:ext cx="2651760" cy="768096"/>
            <a:chOff x="0" y="0"/>
            <a:chExt cx="3535680" cy="102412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$group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3644903" y="8546087"/>
            <a:ext cx="7249163" cy="793499"/>
            <a:chOff x="0" y="0"/>
            <a:chExt cx="9665551" cy="1057999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3840480" y="8558784"/>
            <a:ext cx="6949440" cy="768096"/>
            <a:chOff x="0" y="0"/>
            <a:chExt cx="9265920" cy="102412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Agrupa documentos por campo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868663" y="8546087"/>
            <a:ext cx="6151883" cy="793499"/>
            <a:chOff x="0" y="0"/>
            <a:chExt cx="8202511" cy="105799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CE7F3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11064240" y="8558784"/>
            <a:ext cx="5852160" cy="768096"/>
            <a:chOff x="0" y="0"/>
            <a:chExt cx="7802880" cy="102412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leads por status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718823" y="9314183"/>
            <a:ext cx="2951483" cy="793499"/>
            <a:chOff x="0" y="0"/>
            <a:chExt cx="3935311" cy="105799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39353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914400" y="9326880"/>
            <a:ext cx="2651760" cy="768096"/>
            <a:chOff x="0" y="0"/>
            <a:chExt cx="3535680" cy="102412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535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9" r="0" b="-17269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47625"/>
              <a:ext cx="35356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3184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$sum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3644903" y="9314183"/>
            <a:ext cx="7249163" cy="793499"/>
            <a:chOff x="0" y="0"/>
            <a:chExt cx="9665551" cy="105799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6655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3840480" y="9326880"/>
            <a:ext cx="6949440" cy="768096"/>
            <a:chOff x="0" y="0"/>
            <a:chExt cx="9265920" cy="102412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 ou soma valores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868663" y="9314183"/>
            <a:ext cx="6151883" cy="793499"/>
            <a:chOff x="0" y="0"/>
            <a:chExt cx="8202511" cy="105799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8202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8202549">
                  <a:moveTo>
                    <a:pt x="0" y="0"/>
                  </a:moveTo>
                  <a:lnTo>
                    <a:pt x="8202549" y="0"/>
                  </a:lnTo>
                  <a:lnTo>
                    <a:pt x="8202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11064240" y="9326880"/>
            <a:ext cx="5852160" cy="768096"/>
            <a:chOff x="0" y="0"/>
            <a:chExt cx="7802880" cy="1024128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7802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47625"/>
              <a:ext cx="78028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 leads por origem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16487"/>
            <a:ext cx="153419" cy="1122683"/>
            <a:chOff x="0" y="0"/>
            <a:chExt cx="204559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97" cy="1496949"/>
            </a:xfrm>
            <a:custGeom>
              <a:avLst/>
              <a:gdLst/>
              <a:ahLst/>
              <a:cxnLst/>
              <a:rect r="r" b="b" t="t" l="l"/>
              <a:pathLst>
                <a:path h="149694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9184"/>
            <a:ext cx="16824960" cy="1097280"/>
            <a:chOff x="0" y="0"/>
            <a:chExt cx="224332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1B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38944"/>
            <a:ext cx="18288000" cy="448056"/>
            <a:chOff x="0" y="0"/>
            <a:chExt cx="24384000" cy="597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635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Jacareí  · 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0" y="9838944"/>
            <a:ext cx="822960" cy="448056"/>
            <a:chOff x="0" y="0"/>
            <a:chExt cx="1097280" cy="597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97408"/>
            </a:xfrm>
            <a:custGeom>
              <a:avLst/>
              <a:gdLst/>
              <a:ahLst/>
              <a:cxnLst/>
              <a:rect r="r" b="b" t="t" l="l"/>
              <a:pathLst>
                <a:path h="5974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54" t="0" r="-1985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" cy="635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1779527"/>
            <a:ext cx="16850363" cy="1342139"/>
            <a:chOff x="0" y="0"/>
            <a:chExt cx="22467151" cy="17895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671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8823" y="1779527"/>
            <a:ext cx="135131" cy="1342139"/>
            <a:chOff x="0" y="0"/>
            <a:chExt cx="180175" cy="17895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92224"/>
            <a:ext cx="1005840" cy="1316736"/>
            <a:chOff x="0" y="0"/>
            <a:chExt cx="1341120" cy="17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961" t="0" r="-11796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34112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48256" y="1792224"/>
            <a:ext cx="15179040" cy="1316736"/>
            <a:chOff x="0" y="0"/>
            <a:chExt cx="2023872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387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2387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collections criadas: clients, lojas, usuarios, leads, negociacoes, logs.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3297431"/>
            <a:ext cx="16850363" cy="1342139"/>
            <a:chOff x="0" y="0"/>
            <a:chExt cx="22467151" cy="17895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671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18823" y="3297431"/>
            <a:ext cx="135131" cy="1342139"/>
            <a:chOff x="0" y="0"/>
            <a:chExt cx="180175" cy="17895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3310128"/>
            <a:ext cx="1005840" cy="1316736"/>
            <a:chOff x="0" y="0"/>
            <a:chExt cx="1341120" cy="17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961" t="0" r="-11796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34112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48256" y="3310128"/>
            <a:ext cx="15179040" cy="1316736"/>
            <a:chOff x="0" y="0"/>
            <a:chExt cx="20238720" cy="1755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2387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02387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Embedding no histórico de negociações e Referencing via ObjectId entre collections.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8823" y="4815335"/>
            <a:ext cx="16850363" cy="1342139"/>
            <a:chOff x="0" y="0"/>
            <a:chExt cx="22467151" cy="17895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671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4815335"/>
            <a:ext cx="135131" cy="1342139"/>
            <a:chOff x="0" y="0"/>
            <a:chExt cx="180175" cy="17895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4828032"/>
            <a:ext cx="1005840" cy="1316736"/>
            <a:chOff x="0" y="0"/>
            <a:chExt cx="134112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1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961" t="0" r="-11796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134112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48256" y="4828032"/>
            <a:ext cx="15179040" cy="1316736"/>
            <a:chOff x="0" y="0"/>
            <a:chExt cx="20238720" cy="1755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2387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02387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Operadores $and, $or, $gt, $lt, $exists, projeção, sort(), skip() e limit() aplicados.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8823" y="6333239"/>
            <a:ext cx="16850363" cy="1342139"/>
            <a:chOff x="0" y="0"/>
            <a:chExt cx="22467151" cy="17895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4671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18823" y="6333239"/>
            <a:ext cx="135131" cy="1342139"/>
            <a:chOff x="0" y="0"/>
            <a:chExt cx="180175" cy="17895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6345936"/>
            <a:ext cx="1005840" cy="1316736"/>
            <a:chOff x="0" y="0"/>
            <a:chExt cx="1341120" cy="17556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961" t="0" r="-11796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34112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48256" y="6345936"/>
            <a:ext cx="15179040" cy="1316736"/>
            <a:chOff x="0" y="0"/>
            <a:chExt cx="20238720" cy="17556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387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2387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aggregations gerando indicadores: origem, status, importância, atendente e taxa de conversão.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7851143"/>
            <a:ext cx="16850363" cy="1342139"/>
            <a:chOff x="0" y="0"/>
            <a:chExt cx="22467151" cy="17895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4671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3F4F6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18823" y="7851143"/>
            <a:ext cx="135131" cy="1342139"/>
            <a:chOff x="0" y="0"/>
            <a:chExt cx="180175" cy="17895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7863840"/>
            <a:ext cx="1005840" cy="1316736"/>
            <a:chOff x="0" y="0"/>
            <a:chExt cx="1341120" cy="17556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961" t="0" r="-11796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134112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048256" y="7863840"/>
            <a:ext cx="15179040" cy="1316736"/>
            <a:chOff x="0" y="0"/>
            <a:chExt cx="20238720" cy="17556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2387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02387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1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 demonstrou flexibilidade e adaptação para sistemas de CRM modernos e escaláveis.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637968" cy="244859"/>
            <a:chOff x="0" y="0"/>
            <a:chExt cx="3517290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599868" y="-12697"/>
            <a:ext cx="2637968" cy="244859"/>
            <a:chOff x="0" y="0"/>
            <a:chExt cx="3517290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212442" y="-12697"/>
            <a:ext cx="2637968" cy="244859"/>
            <a:chOff x="0" y="0"/>
            <a:chExt cx="3517290" cy="32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825016" y="-12697"/>
            <a:ext cx="2637968" cy="244859"/>
            <a:chOff x="0" y="0"/>
            <a:chExt cx="3517290" cy="32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437590" y="-12697"/>
            <a:ext cx="2637968" cy="244859"/>
            <a:chOff x="0" y="0"/>
            <a:chExt cx="3517290" cy="326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50155" y="-12697"/>
            <a:ext cx="2637968" cy="244859"/>
            <a:chOff x="0" y="0"/>
            <a:chExt cx="3517290" cy="3264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662729" y="-12697"/>
            <a:ext cx="2637968" cy="244859"/>
            <a:chOff x="0" y="0"/>
            <a:chExt cx="3517290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17265" cy="326517"/>
            </a:xfrm>
            <a:custGeom>
              <a:avLst/>
              <a:gdLst/>
              <a:ahLst/>
              <a:cxnLst/>
              <a:rect r="r" b="b" t="t" l="l"/>
              <a:pathLst>
                <a:path h="326517" w="3517265">
                  <a:moveTo>
                    <a:pt x="0" y="0"/>
                  </a:moveTo>
                  <a:lnTo>
                    <a:pt x="3517265" y="0"/>
                  </a:lnTo>
                  <a:lnTo>
                    <a:pt x="3517265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914400"/>
            <a:ext cx="16459200" cy="2377440"/>
            <a:chOff x="0" y="0"/>
            <a:chExt cx="21945600" cy="3169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47650"/>
              <a:ext cx="21945600" cy="3417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Obrigado!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" y="3383280"/>
            <a:ext cx="16459200" cy="914400"/>
            <a:chOff x="0" y="0"/>
            <a:chExt cx="219456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Dúvidas e perguntas são bem-vindas 🙌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3143" y="4650743"/>
            <a:ext cx="2256539" cy="756923"/>
            <a:chOff x="0" y="0"/>
            <a:chExt cx="3008719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4663440"/>
            <a:ext cx="2231136" cy="731520"/>
            <a:chOff x="0" y="0"/>
            <a:chExt cx="2974848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Alicia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443735" y="4650743"/>
            <a:ext cx="2256539" cy="756923"/>
            <a:chOff x="0" y="0"/>
            <a:chExt cx="3008719" cy="1009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456432" y="4663440"/>
            <a:ext cx="2231136" cy="731520"/>
            <a:chOff x="0" y="0"/>
            <a:chExt cx="2974848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Bruna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894327" y="4650743"/>
            <a:ext cx="2256539" cy="756923"/>
            <a:chOff x="0" y="0"/>
            <a:chExt cx="3008719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907024" y="4663440"/>
            <a:ext cx="2231136" cy="731520"/>
            <a:chOff x="0" y="0"/>
            <a:chExt cx="2974848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Bruno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44919" y="4650743"/>
            <a:ext cx="2256539" cy="756923"/>
            <a:chOff x="0" y="0"/>
            <a:chExt cx="3008719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357616" y="4663440"/>
            <a:ext cx="2231136" cy="731520"/>
            <a:chOff x="0" y="0"/>
            <a:chExt cx="2974848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Pedro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95511" y="4650743"/>
            <a:ext cx="2256539" cy="756923"/>
            <a:chOff x="0" y="0"/>
            <a:chExt cx="3008719" cy="1009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808208" y="4663440"/>
            <a:ext cx="2231136" cy="731520"/>
            <a:chOff x="0" y="0"/>
            <a:chExt cx="2974848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Nicolas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46103" y="4650743"/>
            <a:ext cx="2256539" cy="756923"/>
            <a:chOff x="0" y="0"/>
            <a:chExt cx="3008719" cy="10092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258800" y="4663440"/>
            <a:ext cx="2231136" cy="731520"/>
            <a:chOff x="0" y="0"/>
            <a:chExt cx="2974848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Ryan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696695" y="4650743"/>
            <a:ext cx="2256539" cy="756923"/>
            <a:chOff x="0" y="0"/>
            <a:chExt cx="3008719" cy="10092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08630" cy="1009142"/>
            </a:xfrm>
            <a:custGeom>
              <a:avLst/>
              <a:gdLst/>
              <a:ahLst/>
              <a:cxnLst/>
              <a:rect r="r" b="b" t="t" l="l"/>
              <a:pathLst>
                <a:path h="1009142" w="3008630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504059" y="0"/>
                  </a:lnTo>
                  <a:cubicBezTo>
                    <a:pt x="2782697" y="0"/>
                    <a:pt x="3008630" y="225933"/>
                    <a:pt x="3008630" y="504571"/>
                  </a:cubicBezTo>
                  <a:cubicBezTo>
                    <a:pt x="3008630" y="783209"/>
                    <a:pt x="2782697" y="1009142"/>
                    <a:pt x="2504059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709392" y="4663440"/>
            <a:ext cx="2231136" cy="731520"/>
            <a:chOff x="0" y="0"/>
            <a:chExt cx="2974848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97484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Suelen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5840" y="5669280"/>
            <a:ext cx="16459200" cy="731520"/>
            <a:chOff x="0" y="0"/>
            <a:chExt cx="2194560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Hello World  ·  FATEC Faculdade de Tecnologia  ·  Jacareí / SP  ·  2026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93143" y="6936743"/>
            <a:ext cx="537467" cy="537467"/>
            <a:chOff x="0" y="0"/>
            <a:chExt cx="716623" cy="71662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664208" y="6766560"/>
            <a:ext cx="3566160" cy="877824"/>
            <a:chOff x="0" y="0"/>
            <a:chExt cx="4754880" cy="11704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Alicia: Introdução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290823" y="6936743"/>
            <a:ext cx="537467" cy="537467"/>
            <a:chOff x="0" y="0"/>
            <a:chExt cx="716623" cy="71662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961888" y="6766560"/>
            <a:ext cx="3566160" cy="877824"/>
            <a:chOff x="0" y="0"/>
            <a:chExt cx="4754880" cy="11704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Bruna: Collections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88503" y="6936743"/>
            <a:ext cx="537467" cy="537467"/>
            <a:chOff x="0" y="0"/>
            <a:chExt cx="716623" cy="7166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59669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259568" y="6766560"/>
            <a:ext cx="3566160" cy="877824"/>
            <a:chOff x="0" y="0"/>
            <a:chExt cx="4754880" cy="11704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Bruno: Modelagem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886183" y="6936743"/>
            <a:ext cx="537467" cy="537467"/>
            <a:chOff x="0" y="0"/>
            <a:chExt cx="716623" cy="71662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557248" y="6766560"/>
            <a:ext cx="3566160" cy="877824"/>
            <a:chOff x="0" y="0"/>
            <a:chExt cx="4754880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Pedro: $and $or $gt $lt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93143" y="8125463"/>
            <a:ext cx="537467" cy="537467"/>
            <a:chOff x="0" y="0"/>
            <a:chExt cx="716623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64208" y="7955280"/>
            <a:ext cx="3566160" cy="877824"/>
            <a:chOff x="0" y="0"/>
            <a:chExt cx="4754880" cy="11704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Nicolas: $exists Projeção Paginação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290823" y="8125463"/>
            <a:ext cx="537467" cy="537467"/>
            <a:chOff x="0" y="0"/>
            <a:chExt cx="716623" cy="71662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5961888" y="7955280"/>
            <a:ext cx="3566160" cy="877824"/>
            <a:chOff x="0" y="0"/>
            <a:chExt cx="4754880" cy="11704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Ryan: Aggregations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588503" y="8125463"/>
            <a:ext cx="537467" cy="537467"/>
            <a:chOff x="0" y="0"/>
            <a:chExt cx="716623" cy="71662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259568" y="7955280"/>
            <a:ext cx="3566160" cy="877824"/>
            <a:chOff x="0" y="0"/>
            <a:chExt cx="4754880" cy="11704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7548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Suelen: Resumo &amp; Conclusão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DAHLRmcGWq8</dc:identifier>
  <dcterms:modified xsi:type="dcterms:W3CDTF">2011-08-01T06:04:30Z</dcterms:modified>
  <cp:revision>1</cp:revision>
  <dc:title>FATEC_HelloWorld_v2.pptx</dc:title>
</cp:coreProperties>
</file>